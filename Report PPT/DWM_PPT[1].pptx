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F0F86-AED9-4E76-AD6B-8758A68AE36D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FC0DD-4DCD-43B2-9AA3-11A124E6C3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63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F0F86-AED9-4E76-AD6B-8758A68AE36D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FC0DD-4DCD-43B2-9AA3-11A124E6C3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157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F0F86-AED9-4E76-AD6B-8758A68AE36D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FC0DD-4DCD-43B2-9AA3-11A124E6C3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010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F0F86-AED9-4E76-AD6B-8758A68AE36D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FC0DD-4DCD-43B2-9AA3-11A124E6C3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053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F0F86-AED9-4E76-AD6B-8758A68AE36D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FC0DD-4DCD-43B2-9AA3-11A124E6C3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79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F0F86-AED9-4E76-AD6B-8758A68AE36D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FC0DD-4DCD-43B2-9AA3-11A124E6C3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842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F0F86-AED9-4E76-AD6B-8758A68AE36D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FC0DD-4DCD-43B2-9AA3-11A124E6C3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913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F0F86-AED9-4E76-AD6B-8758A68AE36D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FC0DD-4DCD-43B2-9AA3-11A124E6C3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137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F0F86-AED9-4E76-AD6B-8758A68AE36D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FC0DD-4DCD-43B2-9AA3-11A124E6C3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662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F0F86-AED9-4E76-AD6B-8758A68AE36D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FC0DD-4DCD-43B2-9AA3-11A124E6C3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751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F0F86-AED9-4E76-AD6B-8758A68AE36D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FC0DD-4DCD-43B2-9AA3-11A124E6C3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861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F0F86-AED9-4E76-AD6B-8758A68AE36D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FC0DD-4DCD-43B2-9AA3-11A124E6C32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63596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F0F86-AED9-4E76-AD6B-8758A68AE36D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FC0DD-4DCD-43B2-9AA3-11A124E6C3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1085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F0F86-AED9-4E76-AD6B-8758A68AE36D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FC0DD-4DCD-43B2-9AA3-11A124E6C3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7941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F0F86-AED9-4E76-AD6B-8758A68AE36D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FC0DD-4DCD-43B2-9AA3-11A124E6C3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5797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F0F86-AED9-4E76-AD6B-8758A68AE36D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FC0DD-4DCD-43B2-9AA3-11A124E6C3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512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F0F86-AED9-4E76-AD6B-8758A68AE36D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FC0DD-4DCD-43B2-9AA3-11A124E6C3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981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BFF0F86-AED9-4E76-AD6B-8758A68AE36D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FC0DD-4DCD-43B2-9AA3-11A124E6C3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5185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A97C0A-D45F-19C9-A5C8-815BF4306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1DD1837C-7A0B-C7A9-8AF1-0AC8707B1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009534"/>
            <a:ext cx="3574361" cy="1848466"/>
          </a:xfrm>
          <a:ln w="38100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r>
              <a:rPr lang="en-IN" b="1" dirty="0">
                <a:solidFill>
                  <a:schemeClr val="bg2">
                    <a:lumMod val="75000"/>
                  </a:schemeClr>
                </a:solidFill>
              </a:rPr>
              <a:t>By:</a:t>
            </a:r>
          </a:p>
          <a:p>
            <a:r>
              <a:rPr lang="en-IN" b="1" dirty="0">
                <a:solidFill>
                  <a:schemeClr val="bg2">
                    <a:lumMod val="75000"/>
                  </a:schemeClr>
                </a:solidFill>
              </a:rPr>
              <a:t>Yash Sunil </a:t>
            </a:r>
            <a:r>
              <a:rPr lang="en-IN" b="1" dirty="0" err="1">
                <a:solidFill>
                  <a:schemeClr val="bg2">
                    <a:lumMod val="75000"/>
                  </a:schemeClr>
                </a:solidFill>
              </a:rPr>
              <a:t>patil</a:t>
            </a:r>
            <a:endParaRPr lang="en-IN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IN" b="1" dirty="0">
                <a:solidFill>
                  <a:schemeClr val="bg2">
                    <a:lumMod val="75000"/>
                  </a:schemeClr>
                </a:solidFill>
              </a:rPr>
              <a:t>Rohit </a:t>
            </a:r>
            <a:r>
              <a:rPr lang="en-IN" b="1" dirty="0" err="1">
                <a:solidFill>
                  <a:schemeClr val="bg2">
                    <a:lumMod val="75000"/>
                  </a:schemeClr>
                </a:solidFill>
              </a:rPr>
              <a:t>patil</a:t>
            </a:r>
            <a:endParaRPr lang="en-IN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IN" b="1" dirty="0">
                <a:solidFill>
                  <a:schemeClr val="bg2">
                    <a:lumMod val="75000"/>
                  </a:schemeClr>
                </a:solidFill>
              </a:rPr>
              <a:t>Shivam </a:t>
            </a:r>
            <a:r>
              <a:rPr lang="en-IN" b="1" dirty="0" err="1">
                <a:solidFill>
                  <a:schemeClr val="bg2">
                    <a:lumMod val="75000"/>
                  </a:schemeClr>
                </a:solidFill>
              </a:rPr>
              <a:t>soni</a:t>
            </a:r>
            <a:endParaRPr lang="en-IN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IN" b="1" dirty="0">
                <a:solidFill>
                  <a:schemeClr val="bg2">
                    <a:lumMod val="75000"/>
                  </a:schemeClr>
                </a:solidFill>
              </a:rPr>
              <a:t>Adarsh </a:t>
            </a:r>
            <a:r>
              <a:rPr lang="en-IN" b="1" dirty="0" err="1">
                <a:solidFill>
                  <a:schemeClr val="bg2">
                    <a:lumMod val="75000"/>
                  </a:schemeClr>
                </a:solidFill>
              </a:rPr>
              <a:t>kumar</a:t>
            </a:r>
            <a:endParaRPr lang="en-IN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697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388A8A-4C60-19AA-E425-C00A1FDF8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1931" y="452718"/>
            <a:ext cx="4638903" cy="1400530"/>
          </a:xfrm>
        </p:spPr>
        <p:txBody>
          <a:bodyPr>
            <a:normAutofit/>
          </a:bodyPr>
          <a:lstStyle/>
          <a:p>
            <a:r>
              <a:rPr lang="en-IN" dirty="0"/>
              <a:t>Problem Statement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8375" y="-1573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-up of a rusted plant">
            <a:extLst>
              <a:ext uri="{FF2B5EF4-FFF2-40B4-BE49-F238E27FC236}">
                <a16:creationId xmlns:a16="http://schemas.microsoft.com/office/drawing/2014/main" id="{5219C42D-8E56-7CFC-EF17-A9258E4645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93" r="27284"/>
          <a:stretch>
            <a:fillRect/>
          </a:stretch>
        </p:blipFill>
        <p:spPr>
          <a:xfrm>
            <a:off x="3" y="10"/>
            <a:ext cx="4973099" cy="6857991"/>
          </a:xfrm>
          <a:custGeom>
            <a:avLst/>
            <a:gdLst/>
            <a:ahLst/>
            <a:cxnLst/>
            <a:rect l="l" t="t" r="r" b="b"/>
            <a:pathLst>
              <a:path w="4973099" h="6858001">
                <a:moveTo>
                  <a:pt x="3628384" y="0"/>
                </a:moveTo>
                <a:lnTo>
                  <a:pt x="4971922" y="0"/>
                </a:lnTo>
                <a:lnTo>
                  <a:pt x="4946877" y="155677"/>
                </a:lnTo>
                <a:lnTo>
                  <a:pt x="4923008" y="310668"/>
                </a:lnTo>
                <a:lnTo>
                  <a:pt x="4899644" y="466344"/>
                </a:lnTo>
                <a:lnTo>
                  <a:pt x="4879641" y="622707"/>
                </a:lnTo>
                <a:lnTo>
                  <a:pt x="4859470" y="778383"/>
                </a:lnTo>
                <a:lnTo>
                  <a:pt x="4840644" y="934746"/>
                </a:lnTo>
                <a:lnTo>
                  <a:pt x="4824508" y="1089051"/>
                </a:lnTo>
                <a:lnTo>
                  <a:pt x="4809212" y="1245413"/>
                </a:lnTo>
                <a:lnTo>
                  <a:pt x="4795260" y="1401090"/>
                </a:lnTo>
                <a:lnTo>
                  <a:pt x="4783158" y="1554023"/>
                </a:lnTo>
                <a:lnTo>
                  <a:pt x="4771055" y="1709014"/>
                </a:lnTo>
                <a:lnTo>
                  <a:pt x="4760970" y="1861947"/>
                </a:lnTo>
                <a:lnTo>
                  <a:pt x="4753070" y="2014881"/>
                </a:lnTo>
                <a:lnTo>
                  <a:pt x="4744833" y="2167128"/>
                </a:lnTo>
                <a:lnTo>
                  <a:pt x="4737942" y="2318004"/>
                </a:lnTo>
                <a:lnTo>
                  <a:pt x="4733067" y="2467509"/>
                </a:lnTo>
                <a:lnTo>
                  <a:pt x="4728865" y="2617013"/>
                </a:lnTo>
                <a:lnTo>
                  <a:pt x="4724831" y="2765146"/>
                </a:lnTo>
                <a:lnTo>
                  <a:pt x="4722982" y="2911221"/>
                </a:lnTo>
                <a:lnTo>
                  <a:pt x="4720965" y="3057297"/>
                </a:lnTo>
                <a:lnTo>
                  <a:pt x="4719956" y="3201315"/>
                </a:lnTo>
                <a:lnTo>
                  <a:pt x="4720965" y="3343961"/>
                </a:lnTo>
                <a:lnTo>
                  <a:pt x="4720965" y="3485236"/>
                </a:lnTo>
                <a:lnTo>
                  <a:pt x="4722982" y="3625139"/>
                </a:lnTo>
                <a:lnTo>
                  <a:pt x="4726007" y="3762299"/>
                </a:lnTo>
                <a:lnTo>
                  <a:pt x="4728865" y="3898087"/>
                </a:lnTo>
                <a:lnTo>
                  <a:pt x="4732059" y="4031133"/>
                </a:lnTo>
                <a:lnTo>
                  <a:pt x="4736933" y="4163492"/>
                </a:lnTo>
                <a:lnTo>
                  <a:pt x="4742144" y="4293793"/>
                </a:lnTo>
                <a:lnTo>
                  <a:pt x="4746850" y="4421352"/>
                </a:lnTo>
                <a:lnTo>
                  <a:pt x="4760130" y="4670298"/>
                </a:lnTo>
                <a:lnTo>
                  <a:pt x="4774249" y="4908956"/>
                </a:lnTo>
                <a:lnTo>
                  <a:pt x="4789041" y="5138013"/>
                </a:lnTo>
                <a:lnTo>
                  <a:pt x="4805346" y="5354726"/>
                </a:lnTo>
                <a:lnTo>
                  <a:pt x="4822323" y="5561838"/>
                </a:lnTo>
                <a:lnTo>
                  <a:pt x="4840644" y="5753862"/>
                </a:lnTo>
                <a:lnTo>
                  <a:pt x="4858630" y="5934227"/>
                </a:lnTo>
                <a:lnTo>
                  <a:pt x="4876615" y="6100191"/>
                </a:lnTo>
                <a:lnTo>
                  <a:pt x="4893592" y="6252438"/>
                </a:lnTo>
                <a:lnTo>
                  <a:pt x="4909729" y="6387541"/>
                </a:lnTo>
                <a:lnTo>
                  <a:pt x="4925025" y="6509613"/>
                </a:lnTo>
                <a:lnTo>
                  <a:pt x="4937800" y="6612483"/>
                </a:lnTo>
                <a:lnTo>
                  <a:pt x="4949902" y="6698894"/>
                </a:lnTo>
                <a:lnTo>
                  <a:pt x="4967216" y="6817538"/>
                </a:lnTo>
                <a:lnTo>
                  <a:pt x="4973099" y="6858000"/>
                </a:lnTo>
                <a:lnTo>
                  <a:pt x="4075210" y="6858000"/>
                </a:lnTo>
                <a:lnTo>
                  <a:pt x="4075210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28384" y="1"/>
                </a:lnTo>
                <a:close/>
              </a:path>
            </a:pathLst>
          </a:cu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6F18ACE-6E82-4ADC-8A2F-A1771B30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AE06D-4BD9-AD83-4F98-642AD1CFB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950" y="2052918"/>
            <a:ext cx="4638903" cy="4195481"/>
          </a:xfrm>
        </p:spPr>
        <p:txBody>
          <a:bodyPr>
            <a:normAutofit/>
          </a:bodyPr>
          <a:lstStyle/>
          <a:p>
            <a:r>
              <a:rPr lang="en-US" b="1" dirty="0"/>
              <a:t>Agricultural Challenge:</a:t>
            </a:r>
            <a:r>
              <a:rPr lang="en-US" dirty="0"/>
              <a:t> Wheat diseases cause significant yield losses</a:t>
            </a:r>
          </a:p>
          <a:p>
            <a:r>
              <a:rPr lang="en-US" b="1" dirty="0"/>
              <a:t>Manual Detection:</a:t>
            </a:r>
            <a:r>
              <a:rPr lang="en-US" dirty="0"/>
              <a:t> Time-consuming and requires expert knowledge</a:t>
            </a:r>
          </a:p>
          <a:p>
            <a:r>
              <a:rPr lang="en-US" b="1" dirty="0"/>
              <a:t>Need:</a:t>
            </a:r>
            <a:r>
              <a:rPr lang="en-US" dirty="0"/>
              <a:t> Automated, accurate disease identification system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061378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E8E99-C024-4A35-3F0B-211C6CE10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C8A2-8C65-6AF4-A5C8-CE5F7AF57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Objective:</a:t>
            </a:r>
            <a:r>
              <a:rPr lang="en-US" dirty="0"/>
              <a:t> Develop a system to classify wheat leaf diseases</a:t>
            </a:r>
          </a:p>
          <a:p>
            <a:r>
              <a:rPr lang="en-US" b="1" dirty="0"/>
              <a:t>Target Diseases: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Fusarium Head Blight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Leaf Rust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Tan Spot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Healthy Wheat</a:t>
            </a:r>
          </a:p>
          <a:p>
            <a:r>
              <a:rPr lang="en-US" b="1" dirty="0"/>
              <a:t>Dataset Size:</a:t>
            </a:r>
            <a:r>
              <a:rPr lang="en-US" dirty="0"/>
              <a:t> ~4000+ images across 4 classes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4338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FC7CE-7C07-6222-29B7-58E2C8224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>
            <a:normAutofit/>
          </a:bodyPr>
          <a:lstStyle/>
          <a:p>
            <a:r>
              <a:rPr lang="en-IN" dirty="0"/>
              <a:t>Technical Architecture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DAA46B9-B7E8-4487-B28E-C63A6EB7A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7191 h 6985200"/>
              <a:gd name="connsiteX6" fmla="*/ 1 w 6858001"/>
              <a:gd name="connsiteY6" fmla="*/ 887191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7191"/>
                </a:lnTo>
                <a:lnTo>
                  <a:pt x="1" y="887191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 23">
            <a:extLst>
              <a:ext uri="{FF2B5EF4-FFF2-40B4-BE49-F238E27FC236}">
                <a16:creationId xmlns:a16="http://schemas.microsoft.com/office/drawing/2014/main" id="{C866818C-1E5F-475A-B310-3C06B555F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go with a triangle and a letter&#10;&#10;AI-generated content may be incorrect.">
            <a:extLst>
              <a:ext uri="{FF2B5EF4-FFF2-40B4-BE49-F238E27FC236}">
                <a16:creationId xmlns:a16="http://schemas.microsoft.com/office/drawing/2014/main" id="{F0329820-C475-A17F-CDA2-31B4C4EFEC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956" y="647699"/>
            <a:ext cx="4212378" cy="2683330"/>
          </a:xfrm>
          <a:prstGeom prst="rect">
            <a:avLst/>
          </a:prstGeom>
          <a:effectLst/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12AFDE8-E1ED-4A49-B8B3-4953F4B8A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AE379-662A-050A-27C0-B02AB80A2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3" y="2052918"/>
            <a:ext cx="4165146" cy="4195481"/>
          </a:xfrm>
        </p:spPr>
        <p:txBody>
          <a:bodyPr>
            <a:normAutofit/>
          </a:bodyPr>
          <a:lstStyle/>
          <a:p>
            <a:r>
              <a:rPr lang="en-IN" b="1" dirty="0"/>
              <a:t>Deep Learning Model:</a:t>
            </a:r>
            <a:r>
              <a:rPr lang="en-IN" dirty="0"/>
              <a:t> ResNet50 (Transfer Learning)</a:t>
            </a:r>
          </a:p>
          <a:p>
            <a:r>
              <a:rPr lang="en-IN" b="1" dirty="0"/>
              <a:t>Framework:</a:t>
            </a:r>
            <a:r>
              <a:rPr lang="en-IN" dirty="0"/>
              <a:t> TensorFlow/</a:t>
            </a:r>
            <a:r>
              <a:rPr lang="en-IN" dirty="0" err="1"/>
              <a:t>Keras</a:t>
            </a:r>
            <a:endParaRPr lang="en-IN" dirty="0"/>
          </a:p>
          <a:p>
            <a:r>
              <a:rPr lang="en-IN" b="1" dirty="0"/>
              <a:t>Image Processing:</a:t>
            </a:r>
            <a:r>
              <a:rPr lang="en-IN" dirty="0"/>
              <a:t> OpenCV</a:t>
            </a:r>
          </a:p>
          <a:p>
            <a:r>
              <a:rPr lang="en-IN" b="1" dirty="0"/>
              <a:t>Web Interface:</a:t>
            </a:r>
            <a:r>
              <a:rPr lang="en-IN" dirty="0"/>
              <a:t> Flask (Python)</a:t>
            </a:r>
          </a:p>
          <a:p>
            <a:r>
              <a:rPr lang="en-IN" b="1" dirty="0"/>
              <a:t>Input Size:</a:t>
            </a:r>
            <a:r>
              <a:rPr lang="en-IN" dirty="0"/>
              <a:t> 224x224 pixels</a:t>
            </a:r>
          </a:p>
          <a:p>
            <a:endParaRPr lang="en-IN" dirty="0"/>
          </a:p>
        </p:txBody>
      </p:sp>
      <p:pic>
        <p:nvPicPr>
          <p:cNvPr id="7" name="Picture 6" descr="A logo with different colors&#10;&#10;AI-generated content may be incorrect.">
            <a:extLst>
              <a:ext uri="{FF2B5EF4-FFF2-40B4-BE49-F238E27FC236}">
                <a16:creationId xmlns:a16="http://schemas.microsoft.com/office/drawing/2014/main" id="{BBF4CBD3-6BB5-44A6-DD6B-0F8003FEFA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3566" y="3526971"/>
            <a:ext cx="2211159" cy="272142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8581878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97E70-00EA-3D9B-02CE-A0B323480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6" y="581332"/>
            <a:ext cx="4296697" cy="685799"/>
          </a:xfrm>
        </p:spPr>
        <p:txBody>
          <a:bodyPr/>
          <a:lstStyle/>
          <a:p>
            <a:r>
              <a:rPr lang="en-IN" altLang="en-US" b="1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Implementation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965486-1BB3-B812-F97A-5B80B2646B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29" t="2640" r="2551" b="2981"/>
          <a:stretch>
            <a:fillRect/>
          </a:stretch>
        </p:blipFill>
        <p:spPr>
          <a:xfrm>
            <a:off x="4847303" y="1091381"/>
            <a:ext cx="4788310" cy="544707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23450008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1F7F4-F1F3-C4D0-200E-24F1FCE7D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>
            <a:normAutofit/>
          </a:bodyPr>
          <a:lstStyle/>
          <a:p>
            <a:r>
              <a:rPr lang="en-IN" dirty="0"/>
              <a:t>Dataset and Preprocessing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DAA46B9-B7E8-4487-B28E-C63A6EB7A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7191 h 6985200"/>
              <a:gd name="connsiteX6" fmla="*/ 1 w 6858001"/>
              <a:gd name="connsiteY6" fmla="*/ 887191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7191"/>
                </a:lnTo>
                <a:lnTo>
                  <a:pt x="1" y="887191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 23">
            <a:extLst>
              <a:ext uri="{FF2B5EF4-FFF2-40B4-BE49-F238E27FC236}">
                <a16:creationId xmlns:a16="http://schemas.microsoft.com/office/drawing/2014/main" id="{C866818C-1E5F-475A-B310-3C06B555F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EDE3CD-F46F-8AD4-0FC1-C5567AFF1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0" y="1321804"/>
            <a:ext cx="5449471" cy="1335120"/>
          </a:xfrm>
          <a:prstGeom prst="rect">
            <a:avLst/>
          </a:prstGeom>
          <a:effectLst/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12AFDE8-E1ED-4A49-B8B3-4953F4B8A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B5F39-9C08-424C-5C54-62226A93A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3" y="2052918"/>
            <a:ext cx="4165146" cy="4195481"/>
          </a:xfrm>
        </p:spPr>
        <p:txBody>
          <a:bodyPr>
            <a:normAutofit/>
          </a:bodyPr>
          <a:lstStyle/>
          <a:p>
            <a:r>
              <a:rPr lang="en-IN" b="1" dirty="0"/>
              <a:t>Data Augmentation:</a:t>
            </a:r>
            <a:r>
              <a:rPr lang="en-IN" dirty="0"/>
              <a:t> Rotation, zoom, shift, flip</a:t>
            </a:r>
          </a:p>
          <a:p>
            <a:r>
              <a:rPr lang="en-IN" b="1" dirty="0"/>
              <a:t>Preprocessing:</a:t>
            </a:r>
            <a:r>
              <a:rPr lang="en-IN" dirty="0"/>
              <a:t> RGB conversion, normalization</a:t>
            </a:r>
          </a:p>
          <a:p>
            <a:r>
              <a:rPr lang="en-IN" b="1" dirty="0"/>
              <a:t>Train/Test Split:</a:t>
            </a:r>
            <a:r>
              <a:rPr lang="en-IN" dirty="0"/>
              <a:t> 75/25 ratio</a:t>
            </a:r>
          </a:p>
          <a:p>
            <a:r>
              <a:rPr lang="en-IN" b="1" dirty="0"/>
              <a:t>Classes Distribution:</a:t>
            </a:r>
            <a:r>
              <a:rPr lang="en-IN" dirty="0"/>
              <a:t> Balanced dataset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314064-879D-3E0E-B525-C7B69D1F34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10" y="3681989"/>
            <a:ext cx="5449471" cy="241139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4888780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7EE729-0EDC-CE6B-AF37-044AF6CC7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Results and Performance</a:t>
            </a: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8BA67642-A2BF-5F47-49E1-E652C7BCB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054942"/>
            <a:ext cx="4796945" cy="4670323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EBEBEB"/>
                </a:solidFill>
              </a:rPr>
              <a:t>Overall Performance:</a:t>
            </a:r>
          </a:p>
          <a:p>
            <a:pPr marL="0" indent="0">
              <a:buNone/>
            </a:pPr>
            <a:r>
              <a:rPr lang="en-US" dirty="0">
                <a:solidFill>
                  <a:srgbClr val="EBEBEB"/>
                </a:solidFill>
              </a:rPr>
              <a:t>Overall Accuracy: 85.00% (170/200 correct predictions)</a:t>
            </a:r>
          </a:p>
          <a:p>
            <a:pPr marL="0" indent="0">
              <a:buNone/>
            </a:pPr>
            <a:r>
              <a:rPr lang="en-US" dirty="0">
                <a:solidFill>
                  <a:srgbClr val="EBEBEB"/>
                </a:solidFill>
              </a:rPr>
              <a:t>Mean Confidence: 90.06%</a:t>
            </a:r>
          </a:p>
          <a:p>
            <a:r>
              <a:rPr lang="en-US" dirty="0">
                <a:solidFill>
                  <a:srgbClr val="EBEBEB"/>
                </a:solidFill>
              </a:rPr>
              <a:t>Key Insights:</a:t>
            </a:r>
          </a:p>
          <a:p>
            <a:pPr marL="0" indent="0">
              <a:buNone/>
            </a:pPr>
            <a:r>
              <a:rPr lang="en-US" dirty="0">
                <a:solidFill>
                  <a:srgbClr val="EBEBEB"/>
                </a:solidFill>
              </a:rPr>
              <a:t>1. Best Performance: Leaf Rust (92.73% accuracy)</a:t>
            </a:r>
          </a:p>
          <a:p>
            <a:pPr marL="0" indent="0">
              <a:buNone/>
            </a:pPr>
            <a:r>
              <a:rPr lang="en-US" dirty="0">
                <a:solidFill>
                  <a:srgbClr val="EBEBEB"/>
                </a:solidFill>
              </a:rPr>
              <a:t>2. Most Challenging: Tan Spot (75.00% accuracy)</a:t>
            </a:r>
          </a:p>
          <a:p>
            <a:pPr marL="0" indent="0">
              <a:buNone/>
            </a:pPr>
            <a:r>
              <a:rPr lang="en-US" dirty="0">
                <a:solidFill>
                  <a:srgbClr val="EBEBEB"/>
                </a:solidFill>
              </a:rPr>
              <a:t>3. High Confidence: 78.5% of predictions had ≥80% confidence</a:t>
            </a:r>
          </a:p>
          <a:p>
            <a:pPr marL="0" indent="0">
              <a:buNone/>
            </a:pPr>
            <a:r>
              <a:rPr lang="en-US" dirty="0">
                <a:solidFill>
                  <a:srgbClr val="EBEBEB"/>
                </a:solidFill>
              </a:rPr>
              <a:t>4. Strong Correlation: Correct predictions had higher confidence (93.37%) than incorrect ones (71.27%)</a:t>
            </a:r>
          </a:p>
          <a:p>
            <a:endParaRPr lang="en-US" dirty="0">
              <a:solidFill>
                <a:srgbClr val="EBEBEB"/>
              </a:solidFill>
            </a:endParaRP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1B599233-3973-E4B1-402F-B5F7023905A5}"/>
              </a:ext>
            </a:extLst>
          </p:cNvPr>
          <p:cNvGraphicFramePr>
            <a:graphicFrameLocks/>
          </p:cNvGraphicFramePr>
          <p:nvPr/>
        </p:nvGraphicFramePr>
        <p:xfrm>
          <a:off x="6093992" y="2610595"/>
          <a:ext cx="5449892" cy="1636812"/>
        </p:xfrm>
        <a:graphic>
          <a:graphicData uri="http://schemas.openxmlformats.org/drawingml/2006/table">
            <a:tbl>
              <a:tblPr firstRow="1" firstCol="1" bandRow="1">
                <a:solidFill>
                  <a:srgbClr val="F7F7F7"/>
                </a:solidFill>
                <a:tableStyleId>{5C22544A-7EE6-4342-B048-85BDC9FD1C3A}</a:tableStyleId>
              </a:tblPr>
              <a:tblGrid>
                <a:gridCol w="1119850">
                  <a:extLst>
                    <a:ext uri="{9D8B030D-6E8A-4147-A177-3AD203B41FA5}">
                      <a16:colId xmlns:a16="http://schemas.microsoft.com/office/drawing/2014/main" val="2531094995"/>
                    </a:ext>
                  </a:extLst>
                </a:gridCol>
                <a:gridCol w="925252">
                  <a:extLst>
                    <a:ext uri="{9D8B030D-6E8A-4147-A177-3AD203B41FA5}">
                      <a16:colId xmlns:a16="http://schemas.microsoft.com/office/drawing/2014/main" val="3029154496"/>
                    </a:ext>
                  </a:extLst>
                </a:gridCol>
                <a:gridCol w="750886">
                  <a:extLst>
                    <a:ext uri="{9D8B030D-6E8A-4147-A177-3AD203B41FA5}">
                      <a16:colId xmlns:a16="http://schemas.microsoft.com/office/drawing/2014/main" val="3970455385"/>
                    </a:ext>
                  </a:extLst>
                </a:gridCol>
                <a:gridCol w="870919">
                  <a:extLst>
                    <a:ext uri="{9D8B030D-6E8A-4147-A177-3AD203B41FA5}">
                      <a16:colId xmlns:a16="http://schemas.microsoft.com/office/drawing/2014/main" val="1781931176"/>
                    </a:ext>
                  </a:extLst>
                </a:gridCol>
                <a:gridCol w="841592">
                  <a:extLst>
                    <a:ext uri="{9D8B030D-6E8A-4147-A177-3AD203B41FA5}">
                      <a16:colId xmlns:a16="http://schemas.microsoft.com/office/drawing/2014/main" val="2977532106"/>
                    </a:ext>
                  </a:extLst>
                </a:gridCol>
                <a:gridCol w="941393">
                  <a:extLst>
                    <a:ext uri="{9D8B030D-6E8A-4147-A177-3AD203B41FA5}">
                      <a16:colId xmlns:a16="http://schemas.microsoft.com/office/drawing/2014/main" val="459269506"/>
                    </a:ext>
                  </a:extLst>
                </a:gridCol>
              </a:tblGrid>
              <a:tr h="4844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 b="1" cap="all" spc="60">
                          <a:solidFill>
                            <a:schemeClr val="tx1"/>
                          </a:solidFill>
                          <a:effectLst/>
                        </a:rPr>
                        <a:t>Disease Class</a:t>
                      </a:r>
                      <a:endParaRPr lang="en-IN" sz="900" b="1" cap="all" spc="6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8208" marR="98208" marT="98208" marB="9820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 b="1" cap="all" spc="60">
                          <a:solidFill>
                            <a:schemeClr val="tx1"/>
                          </a:solidFill>
                          <a:effectLst/>
                        </a:rPr>
                        <a:t>Precision</a:t>
                      </a:r>
                      <a:endParaRPr lang="en-IN" sz="900" b="1" cap="all" spc="6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8208" marR="98208" marT="98208" marB="9820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 b="1" cap="all" spc="60">
                          <a:solidFill>
                            <a:schemeClr val="tx1"/>
                          </a:solidFill>
                          <a:effectLst/>
                        </a:rPr>
                        <a:t>Recall</a:t>
                      </a:r>
                      <a:endParaRPr lang="en-IN" sz="900" b="1" cap="all" spc="6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8208" marR="98208" marT="98208" marB="9820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 b="1" cap="all" spc="60">
                          <a:solidFill>
                            <a:schemeClr val="tx1"/>
                          </a:solidFill>
                          <a:effectLst/>
                        </a:rPr>
                        <a:t>F1-Score</a:t>
                      </a:r>
                      <a:endParaRPr lang="en-IN" sz="900" b="1" cap="all" spc="6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8208" marR="98208" marT="98208" marB="9820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 b="1" cap="all" spc="60">
                          <a:solidFill>
                            <a:schemeClr val="tx1"/>
                          </a:solidFill>
                          <a:effectLst/>
                        </a:rPr>
                        <a:t>Support</a:t>
                      </a:r>
                      <a:endParaRPr lang="en-IN" sz="900" b="1" cap="all" spc="6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8208" marR="98208" marT="98208" marB="9820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 b="1" cap="all" spc="60">
                          <a:solidFill>
                            <a:schemeClr val="tx1"/>
                          </a:solidFill>
                          <a:effectLst/>
                        </a:rPr>
                        <a:t>Accuracy</a:t>
                      </a:r>
                      <a:endParaRPr lang="en-IN" sz="900" b="1" cap="all" spc="6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8208" marR="98208" marT="98208" marB="9820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172748"/>
                  </a:ext>
                </a:extLst>
              </a:tr>
              <a:tr h="3535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 b="1" cap="none" spc="0">
                          <a:solidFill>
                            <a:schemeClr val="tx1"/>
                          </a:solidFill>
                          <a:effectLst/>
                        </a:rPr>
                        <a:t>Fusarium Head Blight</a:t>
                      </a:r>
                      <a:endParaRPr lang="en-IN" sz="900" b="1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104" marR="49104" marT="0" marB="6547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  <a:effectLst/>
                        </a:rPr>
                        <a:t>97.37%</a:t>
                      </a:r>
                      <a:endParaRPr lang="en-IN" sz="1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104" marR="49104" marT="0" marB="6547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  <a:effectLst/>
                        </a:rPr>
                        <a:t>80.43%</a:t>
                      </a:r>
                      <a:endParaRPr lang="en-IN" sz="1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104" marR="49104" marT="0" marB="6547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  <a:effectLst/>
                        </a:rPr>
                        <a:t>88.10%</a:t>
                      </a:r>
                      <a:endParaRPr lang="en-IN" sz="1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104" marR="49104" marT="0" marB="6547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  <a:effectLst/>
                        </a:rPr>
                        <a:t>46</a:t>
                      </a:r>
                      <a:endParaRPr lang="en-IN" sz="1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104" marR="49104" marT="0" marB="6547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  <a:effectLst/>
                        </a:rPr>
                        <a:t>80.43%</a:t>
                      </a:r>
                      <a:endParaRPr lang="en-IN" sz="1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104" marR="49104" marT="0" marB="6547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337887"/>
                  </a:ext>
                </a:extLst>
              </a:tr>
              <a:tr h="2662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 b="1" cap="none" spc="0">
                          <a:solidFill>
                            <a:schemeClr val="tx1"/>
                          </a:solidFill>
                          <a:effectLst/>
                        </a:rPr>
                        <a:t>Healthy Wheat</a:t>
                      </a:r>
                      <a:endParaRPr lang="en-IN" sz="900" b="1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104" marR="49104" marT="0" marB="6547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  <a:effectLst/>
                        </a:rPr>
                        <a:t>66.15%</a:t>
                      </a:r>
                      <a:endParaRPr lang="en-IN" sz="1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104" marR="49104" marT="0" marB="6547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  <a:effectLst/>
                        </a:rPr>
                        <a:t>91.49%</a:t>
                      </a:r>
                      <a:endParaRPr lang="en-IN" sz="1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104" marR="49104" marT="0" marB="6547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  <a:effectLst/>
                        </a:rPr>
                        <a:t>76.79%</a:t>
                      </a:r>
                      <a:endParaRPr lang="en-IN" sz="1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104" marR="49104" marT="0" marB="6547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  <a:effectLst/>
                        </a:rPr>
                        <a:t>47</a:t>
                      </a:r>
                      <a:endParaRPr lang="en-IN" sz="1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104" marR="49104" marT="0" marB="6547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  <a:effectLst/>
                        </a:rPr>
                        <a:t>91.49%</a:t>
                      </a:r>
                      <a:endParaRPr lang="en-IN" sz="1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104" marR="49104" marT="0" marB="6547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701533"/>
                  </a:ext>
                </a:extLst>
              </a:tr>
              <a:tr h="2662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 b="1" cap="none" spc="0">
                          <a:solidFill>
                            <a:schemeClr val="tx1"/>
                          </a:solidFill>
                          <a:effectLst/>
                        </a:rPr>
                        <a:t>Leaf Rust</a:t>
                      </a:r>
                      <a:endParaRPr lang="en-IN" sz="900" b="1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104" marR="49104" marT="0" marB="6547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  <a:effectLst/>
                        </a:rPr>
                        <a:t>91.07%</a:t>
                      </a:r>
                      <a:endParaRPr lang="en-IN" sz="1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104" marR="49104" marT="0" marB="6547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  <a:effectLst/>
                        </a:rPr>
                        <a:t>92.73%</a:t>
                      </a:r>
                      <a:endParaRPr lang="en-IN" sz="1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104" marR="49104" marT="0" marB="6547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  <a:effectLst/>
                        </a:rPr>
                        <a:t>91.89%</a:t>
                      </a:r>
                      <a:endParaRPr lang="en-IN" sz="1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104" marR="49104" marT="0" marB="6547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  <a:effectLst/>
                        </a:rPr>
                        <a:t>55</a:t>
                      </a:r>
                      <a:endParaRPr lang="en-IN" sz="1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104" marR="49104" marT="0" marB="6547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  <a:effectLst/>
                        </a:rPr>
                        <a:t>92.73%</a:t>
                      </a:r>
                      <a:endParaRPr lang="en-IN" sz="1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104" marR="49104" marT="0" marB="6547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182005"/>
                  </a:ext>
                </a:extLst>
              </a:tr>
              <a:tr h="2662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 b="1" cap="none" spc="0">
                          <a:solidFill>
                            <a:schemeClr val="tx1"/>
                          </a:solidFill>
                          <a:effectLst/>
                        </a:rPr>
                        <a:t>Tan Spot</a:t>
                      </a:r>
                      <a:endParaRPr lang="en-IN" sz="900" b="1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104" marR="49104" marT="0" marB="6547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  <a:effectLst/>
                        </a:rPr>
                        <a:t>95.12%</a:t>
                      </a:r>
                      <a:endParaRPr lang="en-IN" sz="1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104" marR="49104" marT="0" marB="6547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  <a:effectLst/>
                        </a:rPr>
                        <a:t>75.00%</a:t>
                      </a:r>
                      <a:endParaRPr lang="en-IN" sz="1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104" marR="49104" marT="0" marB="6547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  <a:effectLst/>
                        </a:rPr>
                        <a:t>83.87%</a:t>
                      </a:r>
                      <a:endParaRPr lang="en-IN" sz="1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104" marR="49104" marT="0" marB="6547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  <a:effectLst/>
                        </a:rPr>
                        <a:t>52</a:t>
                      </a:r>
                      <a:endParaRPr lang="en-IN" sz="1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104" marR="49104" marT="0" marB="6547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cap="none" spc="0" dirty="0">
                          <a:solidFill>
                            <a:schemeClr val="tx1"/>
                          </a:solidFill>
                          <a:effectLst/>
                        </a:rPr>
                        <a:t>75.00%</a:t>
                      </a:r>
                      <a:endParaRPr lang="en-IN" sz="11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104" marR="49104" marT="0" marB="6547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594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32668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AED9A-D77D-7C98-7AA9-C3A454669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>
            <a:normAutofit/>
          </a:bodyPr>
          <a:lstStyle/>
          <a:p>
            <a:r>
              <a:rPr lang="en-IN"/>
              <a:t>Web Application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BAF956B-591A-4461-BB3C-79AA176B0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7191 h 6985200"/>
              <a:gd name="connsiteX6" fmla="*/ 1 w 6858001"/>
              <a:gd name="connsiteY6" fmla="*/ 887191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7191"/>
                </a:lnTo>
                <a:lnTo>
                  <a:pt x="1" y="887191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2" name="Freeform 23">
            <a:extLst>
              <a:ext uri="{FF2B5EF4-FFF2-40B4-BE49-F238E27FC236}">
                <a16:creationId xmlns:a16="http://schemas.microsoft.com/office/drawing/2014/main" id="{E8895FAA-0D03-43F6-9594-A8733552E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D730C1-B094-D8AD-86E6-15D1C8487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0" y="1022234"/>
            <a:ext cx="5449471" cy="2493132"/>
          </a:xfrm>
          <a:prstGeom prst="rect">
            <a:avLst/>
          </a:prstGeom>
          <a:effectLst/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918FB696-BC5E-43A4-9768-4BB5278BD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EDB4E-F1FB-6352-A17C-B21F75F91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3" y="2052918"/>
            <a:ext cx="4165146" cy="4195481"/>
          </a:xfrm>
        </p:spPr>
        <p:txBody>
          <a:bodyPr>
            <a:normAutofit/>
          </a:bodyPr>
          <a:lstStyle/>
          <a:p>
            <a:r>
              <a:rPr lang="en-US" b="1"/>
              <a:t>User Interface:</a:t>
            </a:r>
            <a:r>
              <a:rPr lang="en-US"/>
              <a:t> Clean, responsive design</a:t>
            </a:r>
          </a:p>
          <a:p>
            <a:r>
              <a:rPr lang="en-US" b="1"/>
              <a:t>Image Upload:</a:t>
            </a:r>
            <a:r>
              <a:rPr lang="en-US"/>
              <a:t> Drag &amp; drop functionality</a:t>
            </a:r>
          </a:p>
          <a:p>
            <a:r>
              <a:rPr lang="en-US" b="1"/>
              <a:t>Real-time Prediction:</a:t>
            </a:r>
            <a:r>
              <a:rPr lang="en-US"/>
              <a:t> Instant disease classification</a:t>
            </a:r>
          </a:p>
          <a:p>
            <a:r>
              <a:rPr lang="en-US" b="1"/>
              <a:t>Confidence Display:</a:t>
            </a:r>
            <a:r>
              <a:rPr lang="en-US"/>
              <a:t> Visual confidence indicators</a:t>
            </a:r>
          </a:p>
          <a:p>
            <a:endParaRPr lang="en-IN"/>
          </a:p>
        </p:txBody>
      </p:sp>
      <p:pic>
        <p:nvPicPr>
          <p:cNvPr id="6" name="Picture 5" descr="A screenshot of a cow&#10;&#10;AI-generated content may be incorrect.">
            <a:extLst>
              <a:ext uri="{FF2B5EF4-FFF2-40B4-BE49-F238E27FC236}">
                <a16:creationId xmlns:a16="http://schemas.microsoft.com/office/drawing/2014/main" id="{A1DEF899-FC34-C611-0966-2AAA398ED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95" y="4085841"/>
            <a:ext cx="4726901" cy="216255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0212213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B7988-952F-73E1-F9FC-FE53DC7BD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Impact and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44D07-223E-153A-315D-F952C4E5C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Farmers:</a:t>
            </a:r>
            <a:r>
              <a:rPr lang="en-US" dirty="0"/>
              <a:t> Early disease detection</a:t>
            </a:r>
          </a:p>
          <a:p>
            <a:r>
              <a:rPr lang="en-US" b="1" dirty="0"/>
              <a:t>Researchers:</a:t>
            </a:r>
            <a:r>
              <a:rPr lang="en-US" dirty="0"/>
              <a:t> Agricultural studies</a:t>
            </a:r>
          </a:p>
          <a:p>
            <a:r>
              <a:rPr lang="en-US" b="1" dirty="0"/>
              <a:t>Food Security:</a:t>
            </a:r>
            <a:r>
              <a:rPr lang="en-US" dirty="0"/>
              <a:t> Improved crop yields</a:t>
            </a:r>
          </a:p>
          <a:p>
            <a:r>
              <a:rPr lang="en-US" b="1" dirty="0"/>
              <a:t>Cost-effective:</a:t>
            </a:r>
            <a:r>
              <a:rPr lang="en-US" dirty="0"/>
              <a:t> Reduces expert consultation needs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50606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B1AE6-73B4-327D-6650-E6FA3C706B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dirty="0"/>
              <a:t>THANK YOU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058011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31</TotalTime>
  <Words>324</Words>
  <Application>Microsoft Office PowerPoint</Application>
  <PresentationFormat>Widescreen</PresentationFormat>
  <Paragraphs>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Century Gothic</vt:lpstr>
      <vt:lpstr>Poppins Medium</vt:lpstr>
      <vt:lpstr>Wingdings 3</vt:lpstr>
      <vt:lpstr>Ion</vt:lpstr>
      <vt:lpstr>PowerPoint Presentation</vt:lpstr>
      <vt:lpstr>Problem Statement</vt:lpstr>
      <vt:lpstr>Project Overview</vt:lpstr>
      <vt:lpstr>Technical Architecture</vt:lpstr>
      <vt:lpstr>Implementation</vt:lpstr>
      <vt:lpstr>Dataset and Preprocessing</vt:lpstr>
      <vt:lpstr>Results and Performance</vt:lpstr>
      <vt:lpstr>Web Application</vt:lpstr>
      <vt:lpstr>Impact and Applications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 Patil</dc:creator>
  <cp:lastModifiedBy>ROHIT PATIL</cp:lastModifiedBy>
  <cp:revision>3</cp:revision>
  <dcterms:created xsi:type="dcterms:W3CDTF">2025-09-28T18:05:28Z</dcterms:created>
  <dcterms:modified xsi:type="dcterms:W3CDTF">2025-09-28T18:42:44Z</dcterms:modified>
</cp:coreProperties>
</file>